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63" d="100"/>
          <a:sy n="163" d="100"/>
        </p:scale>
        <p:origin x="146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8F4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3995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199895"/>
            <a:ext cx="228473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C2C2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Team</a:t>
            </a:r>
            <a:r>
              <a:rPr dirty="0"/>
              <a:t> Zade</a:t>
            </a:r>
            <a:r>
              <a:rPr spc="45" dirty="0"/>
              <a:t> </a:t>
            </a:r>
            <a:r>
              <a:rPr dirty="0"/>
              <a:t>(Gayatri Vidya </a:t>
            </a:r>
            <a:r>
              <a:rPr spc="-10" dirty="0"/>
              <a:t>Parishad</a:t>
            </a:r>
            <a:r>
              <a:rPr dirty="0"/>
              <a:t> </a:t>
            </a:r>
            <a:r>
              <a:rPr spc="-20" dirty="0"/>
              <a:t>College</a:t>
            </a:r>
            <a:r>
              <a:rPr dirty="0"/>
              <a:t> </a:t>
            </a:r>
            <a:r>
              <a:rPr spc="-50" dirty="0"/>
              <a:t>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C2C2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Team</a:t>
            </a:r>
            <a:r>
              <a:rPr dirty="0"/>
              <a:t> Zade</a:t>
            </a:r>
            <a:r>
              <a:rPr spc="45" dirty="0"/>
              <a:t> </a:t>
            </a:r>
            <a:r>
              <a:rPr dirty="0"/>
              <a:t>(Gayatri Vidya </a:t>
            </a:r>
            <a:r>
              <a:rPr spc="-10" dirty="0"/>
              <a:t>Parishad</a:t>
            </a:r>
            <a:r>
              <a:rPr dirty="0"/>
              <a:t> </a:t>
            </a:r>
            <a:r>
              <a:rPr spc="-20" dirty="0"/>
              <a:t>College</a:t>
            </a:r>
            <a:r>
              <a:rPr dirty="0"/>
              <a:t> </a:t>
            </a:r>
            <a:r>
              <a:rPr spc="-50" dirty="0"/>
              <a:t>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C2C2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Team</a:t>
            </a:r>
            <a:r>
              <a:rPr dirty="0"/>
              <a:t> Zade</a:t>
            </a:r>
            <a:r>
              <a:rPr spc="45" dirty="0"/>
              <a:t> </a:t>
            </a:r>
            <a:r>
              <a:rPr dirty="0"/>
              <a:t>(Gayatri Vidya </a:t>
            </a:r>
            <a:r>
              <a:rPr spc="-10" dirty="0"/>
              <a:t>Parishad</a:t>
            </a:r>
            <a:r>
              <a:rPr dirty="0"/>
              <a:t> </a:t>
            </a:r>
            <a:r>
              <a:rPr spc="-20" dirty="0"/>
              <a:t>College</a:t>
            </a:r>
            <a:r>
              <a:rPr dirty="0"/>
              <a:t> </a:t>
            </a:r>
            <a:r>
              <a:rPr spc="-50" dirty="0"/>
              <a:t>o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C2C2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Team</a:t>
            </a:r>
            <a:r>
              <a:rPr dirty="0"/>
              <a:t> Zade</a:t>
            </a:r>
            <a:r>
              <a:rPr spc="45" dirty="0"/>
              <a:t> </a:t>
            </a:r>
            <a:r>
              <a:rPr dirty="0"/>
              <a:t>(Gayatri Vidya </a:t>
            </a:r>
            <a:r>
              <a:rPr spc="-10" dirty="0"/>
              <a:t>Parishad</a:t>
            </a:r>
            <a:r>
              <a:rPr dirty="0"/>
              <a:t> </a:t>
            </a:r>
            <a:r>
              <a:rPr spc="-20" dirty="0"/>
              <a:t>College</a:t>
            </a:r>
            <a:r>
              <a:rPr dirty="0"/>
              <a:t> </a:t>
            </a:r>
            <a:r>
              <a:rPr spc="-50" dirty="0"/>
              <a:t>o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8F4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3995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Team</a:t>
            </a:r>
            <a:r>
              <a:rPr dirty="0"/>
              <a:t> Zade</a:t>
            </a:r>
            <a:r>
              <a:rPr spc="45" dirty="0"/>
              <a:t> </a:t>
            </a:r>
            <a:r>
              <a:rPr dirty="0"/>
              <a:t>(Gayatri Vidya </a:t>
            </a:r>
            <a:r>
              <a:rPr spc="-10" dirty="0"/>
              <a:t>Parishad</a:t>
            </a:r>
            <a:r>
              <a:rPr dirty="0"/>
              <a:t> </a:t>
            </a:r>
            <a:r>
              <a:rPr spc="-20" dirty="0"/>
              <a:t>College</a:t>
            </a:r>
            <a:r>
              <a:rPr dirty="0"/>
              <a:t> </a:t>
            </a:r>
            <a:r>
              <a:rPr spc="-50" dirty="0"/>
              <a:t>o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8F4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3995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40017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8F4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9895"/>
            <a:ext cx="1840864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2C2C2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764311"/>
            <a:ext cx="4358005" cy="21866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9266" y="3351784"/>
            <a:ext cx="593089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F2F2F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Team</a:t>
            </a:r>
            <a:r>
              <a:rPr dirty="0"/>
              <a:t> Zade</a:t>
            </a:r>
            <a:r>
              <a:rPr spc="45" dirty="0"/>
              <a:t> </a:t>
            </a:r>
            <a:r>
              <a:rPr dirty="0"/>
              <a:t>(Gayatri Vidya </a:t>
            </a:r>
            <a:r>
              <a:rPr spc="-10" dirty="0"/>
              <a:t>Parishad</a:t>
            </a:r>
            <a:r>
              <a:rPr dirty="0"/>
              <a:t> </a:t>
            </a:r>
            <a:r>
              <a:rPr spc="-20" dirty="0"/>
              <a:t>College</a:t>
            </a:r>
            <a:r>
              <a:rPr dirty="0"/>
              <a:t> </a:t>
            </a:r>
            <a:r>
              <a:rPr spc="-50" dirty="0"/>
              <a:t>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9152" y="3351784"/>
            <a:ext cx="2540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slide" Target="slide2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2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slide" Target="slide2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slide" Target="slide2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" Target="slide2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" Target="slide2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slide" Target="slide21.xml"/><Relationship Id="rId5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slide" Target="slide2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20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slide" Target="slide2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0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slide" Target="slide2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20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slide" Target="slide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" Target="slide2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1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824737"/>
            <a:ext cx="4483735" cy="737870"/>
            <a:chOff x="87743" y="824737"/>
            <a:chExt cx="4483735" cy="737870"/>
          </a:xfrm>
        </p:grpSpPr>
        <p:sp>
          <p:nvSpPr>
            <p:cNvPr id="3" name="object 3"/>
            <p:cNvSpPr/>
            <p:nvPr/>
          </p:nvSpPr>
          <p:spPr>
            <a:xfrm>
              <a:off x="87743" y="824737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87995"/>
              <a:ext cx="4432935" cy="674370"/>
            </a:xfrm>
            <a:custGeom>
              <a:avLst/>
              <a:gdLst/>
              <a:ahLst/>
              <a:cxnLst/>
              <a:rect l="l" t="t" r="r" b="b"/>
              <a:pathLst>
                <a:path w="4432935" h="674369">
                  <a:moveTo>
                    <a:pt x="4432566" y="0"/>
                  </a:moveTo>
                  <a:lnTo>
                    <a:pt x="0" y="0"/>
                  </a:lnTo>
                  <a:lnTo>
                    <a:pt x="0" y="674283"/>
                  </a:lnTo>
                  <a:lnTo>
                    <a:pt x="4432566" y="67428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69158"/>
              <a:ext cx="4432935" cy="642620"/>
            </a:xfrm>
            <a:custGeom>
              <a:avLst/>
              <a:gdLst/>
              <a:ahLst/>
              <a:cxnLst/>
              <a:rect l="l" t="t" r="r" b="b"/>
              <a:pathLst>
                <a:path w="4432935" h="642619">
                  <a:moveTo>
                    <a:pt x="4432566" y="0"/>
                  </a:moveTo>
                  <a:lnTo>
                    <a:pt x="0" y="0"/>
                  </a:lnTo>
                  <a:lnTo>
                    <a:pt x="0" y="591519"/>
                  </a:lnTo>
                  <a:lnTo>
                    <a:pt x="4008" y="611243"/>
                  </a:lnTo>
                  <a:lnTo>
                    <a:pt x="14922" y="627396"/>
                  </a:lnTo>
                  <a:lnTo>
                    <a:pt x="31075" y="638310"/>
                  </a:lnTo>
                  <a:lnTo>
                    <a:pt x="50800" y="642319"/>
                  </a:lnTo>
                  <a:lnTo>
                    <a:pt x="4381765" y="642319"/>
                  </a:lnTo>
                  <a:lnTo>
                    <a:pt x="4401490" y="638310"/>
                  </a:lnTo>
                  <a:lnTo>
                    <a:pt x="4417643" y="627396"/>
                  </a:lnTo>
                  <a:lnTo>
                    <a:pt x="4428558" y="611243"/>
                  </a:lnTo>
                  <a:lnTo>
                    <a:pt x="4432566" y="59151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87995"/>
            <a:ext cx="4432935" cy="27251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445"/>
              </a:spcBef>
            </a:pPr>
            <a:r>
              <a:rPr sz="1400" spc="-40" dirty="0">
                <a:solidFill>
                  <a:srgbClr val="2C2C2C"/>
                </a:solidFill>
                <a:latin typeface="Tahoma"/>
                <a:cs typeface="Tahoma"/>
              </a:rPr>
              <a:t>Adversarial</a:t>
            </a:r>
            <a:r>
              <a:rPr sz="1400" spc="-25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2C2C2C"/>
                </a:solidFill>
                <a:latin typeface="Tahoma"/>
                <a:cs typeface="Tahoma"/>
              </a:rPr>
              <a:t>Robustness</a:t>
            </a:r>
            <a:r>
              <a:rPr sz="1400" spc="-20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C2C2C"/>
                </a:solidFill>
                <a:latin typeface="Tahoma"/>
                <a:cs typeface="Tahoma"/>
              </a:rPr>
              <a:t>Analyzer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9789" y="1721560"/>
            <a:ext cx="2088514" cy="3039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5"/>
              </a:spcBef>
            </a:pPr>
            <a:endParaRPr sz="8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spc="-45" dirty="0">
                <a:solidFill>
                  <a:srgbClr val="2C2C2C"/>
                </a:solidFill>
                <a:latin typeface="Tahoma"/>
                <a:cs typeface="Tahoma"/>
              </a:rPr>
              <a:t>February </a:t>
            </a:r>
            <a:r>
              <a:rPr sz="1100" dirty="0">
                <a:solidFill>
                  <a:srgbClr val="2C2C2C"/>
                </a:solidFill>
                <a:latin typeface="Tahoma"/>
                <a:cs typeface="Tahoma"/>
              </a:rPr>
              <a:t>7,</a:t>
            </a:r>
            <a:r>
              <a:rPr sz="1100" spc="-70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2C2C2C"/>
                </a:solidFill>
                <a:latin typeface="Tahoma"/>
                <a:cs typeface="Tahoma"/>
              </a:rPr>
              <a:t>2026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4" name="object 14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This</a:t>
            </a:r>
            <a:r>
              <a:rPr spc="-20" dirty="0"/>
              <a:t> </a:t>
            </a:r>
            <a:r>
              <a:rPr spc="-30" dirty="0"/>
              <a:t>project</a:t>
            </a:r>
            <a:r>
              <a:rPr spc="-20" dirty="0"/>
              <a:t> </a:t>
            </a:r>
            <a:r>
              <a:rPr spc="-35" dirty="0"/>
              <a:t>applies</a:t>
            </a:r>
            <a:r>
              <a:rPr spc="-20" dirty="0"/>
              <a:t> </a:t>
            </a:r>
            <a:r>
              <a:rPr spc="-25" dirty="0"/>
              <a:t>classical</a:t>
            </a:r>
            <a:r>
              <a:rPr spc="-15" dirty="0"/>
              <a:t> </a:t>
            </a:r>
            <a:r>
              <a:rPr spc="-35" dirty="0"/>
              <a:t>machine</a:t>
            </a:r>
            <a:r>
              <a:rPr spc="-20" dirty="0"/>
              <a:t> </a:t>
            </a:r>
            <a:r>
              <a:rPr spc="-40" dirty="0"/>
              <a:t>learning</a:t>
            </a:r>
            <a:r>
              <a:rPr spc="-20" dirty="0"/>
              <a:t> </a:t>
            </a:r>
            <a:r>
              <a:rPr spc="-40" dirty="0"/>
              <a:t>techniques</a:t>
            </a:r>
            <a:r>
              <a:rPr spc="-15" dirty="0"/>
              <a:t> </a:t>
            </a:r>
            <a:r>
              <a:rPr spc="-30" dirty="0"/>
              <a:t>using</a:t>
            </a:r>
            <a:r>
              <a:rPr spc="-20" dirty="0"/>
              <a:t> </a:t>
            </a:r>
            <a:r>
              <a:rPr spc="-35" dirty="0"/>
              <a:t>standard</a:t>
            </a:r>
            <a:r>
              <a:rPr spc="-15" dirty="0"/>
              <a:t> </a:t>
            </a:r>
            <a:r>
              <a:rPr spc="-10" dirty="0"/>
              <a:t>Python </a:t>
            </a:r>
            <a:r>
              <a:rPr spc="-25" dirty="0"/>
              <a:t>libraries.</a:t>
            </a:r>
            <a:r>
              <a:rPr spc="100" dirty="0"/>
              <a:t> </a:t>
            </a:r>
            <a:r>
              <a:rPr spc="-10" dirty="0"/>
              <a:t>Models</a:t>
            </a:r>
            <a:r>
              <a:rPr spc="-5" dirty="0"/>
              <a:t> </a:t>
            </a:r>
            <a:r>
              <a:rPr spc="-45" dirty="0"/>
              <a:t>such</a:t>
            </a:r>
            <a:r>
              <a:rPr spc="-10" dirty="0"/>
              <a:t> </a:t>
            </a:r>
            <a:r>
              <a:rPr spc="-30" dirty="0"/>
              <a:t>as</a:t>
            </a:r>
            <a:r>
              <a:rPr spc="-5" dirty="0"/>
              <a:t> </a:t>
            </a:r>
            <a:r>
              <a:rPr spc="-10" dirty="0"/>
              <a:t>logistic</a:t>
            </a:r>
            <a:r>
              <a:rPr spc="-5" dirty="0"/>
              <a:t> </a:t>
            </a:r>
            <a:r>
              <a:rPr spc="-50" dirty="0"/>
              <a:t>regression,</a:t>
            </a:r>
            <a:r>
              <a:rPr spc="-5" dirty="0"/>
              <a:t> </a:t>
            </a:r>
            <a:r>
              <a:rPr dirty="0"/>
              <a:t>SVMs,</a:t>
            </a:r>
            <a:r>
              <a:rPr spc="-10" dirty="0"/>
              <a:t> </a:t>
            </a:r>
            <a:r>
              <a:rPr spc="-50" dirty="0"/>
              <a:t>tree-based</a:t>
            </a:r>
            <a:r>
              <a:rPr spc="-5" dirty="0"/>
              <a:t> </a:t>
            </a:r>
            <a:r>
              <a:rPr spc="-35" dirty="0"/>
              <a:t>methods,</a:t>
            </a:r>
            <a:r>
              <a:rPr spc="-5" dirty="0"/>
              <a:t> </a:t>
            </a:r>
            <a:r>
              <a:rPr spc="-10" dirty="0"/>
              <a:t>boosting, </a:t>
            </a:r>
            <a:r>
              <a:rPr spc="-25" dirty="0"/>
              <a:t>and</a:t>
            </a:r>
            <a:r>
              <a:rPr spc="5" dirty="0"/>
              <a:t> </a:t>
            </a:r>
            <a:r>
              <a:rPr dirty="0"/>
              <a:t>k-NN</a:t>
            </a:r>
            <a:r>
              <a:rPr spc="10" dirty="0"/>
              <a:t> </a:t>
            </a:r>
            <a:r>
              <a:rPr spc="-65" dirty="0"/>
              <a:t>were</a:t>
            </a:r>
            <a:r>
              <a:rPr dirty="0"/>
              <a:t> </a:t>
            </a:r>
            <a:r>
              <a:rPr spc="-40" dirty="0"/>
              <a:t>selected</a:t>
            </a:r>
            <a:r>
              <a:rPr spc="10" dirty="0"/>
              <a:t> </a:t>
            </a:r>
            <a:r>
              <a:rPr spc="-10" dirty="0"/>
              <a:t>for</a:t>
            </a:r>
            <a:r>
              <a:rPr spc="10" dirty="0"/>
              <a:t> </a:t>
            </a:r>
            <a:r>
              <a:rPr spc="-35" dirty="0"/>
              <a:t>interpretability,</a:t>
            </a:r>
            <a:r>
              <a:rPr spc="5" dirty="0"/>
              <a:t> </a:t>
            </a:r>
            <a:r>
              <a:rPr spc="-25" dirty="0"/>
              <a:t>computational</a:t>
            </a:r>
            <a:r>
              <a:rPr spc="10" dirty="0"/>
              <a:t> </a:t>
            </a:r>
            <a:r>
              <a:rPr spc="-40" dirty="0"/>
              <a:t>efficiency,</a:t>
            </a:r>
            <a:r>
              <a:rPr spc="5" dirty="0"/>
              <a:t> </a:t>
            </a:r>
            <a:r>
              <a:rPr spc="-25" dirty="0"/>
              <a:t>and </a:t>
            </a:r>
            <a:r>
              <a:rPr spc="-30" dirty="0"/>
              <a:t>reproducibility.</a:t>
            </a:r>
            <a:r>
              <a:rPr spc="70" dirty="0"/>
              <a:t> </a:t>
            </a:r>
            <a:r>
              <a:rPr spc="-20" dirty="0"/>
              <a:t>Evaluation</a:t>
            </a:r>
            <a:r>
              <a:rPr spc="-15" dirty="0"/>
              <a:t> </a:t>
            </a:r>
            <a:r>
              <a:rPr spc="-65" dirty="0"/>
              <a:t>was</a:t>
            </a:r>
            <a:r>
              <a:rPr spc="-10" dirty="0"/>
              <a:t> </a:t>
            </a:r>
            <a:r>
              <a:rPr spc="-40" dirty="0"/>
              <a:t>performed</a:t>
            </a:r>
            <a:r>
              <a:rPr spc="-20" dirty="0"/>
              <a:t> </a:t>
            </a:r>
            <a:r>
              <a:rPr spc="-30" dirty="0"/>
              <a:t>using</a:t>
            </a:r>
            <a:r>
              <a:rPr spc="-15" dirty="0"/>
              <a:t> </a:t>
            </a:r>
            <a:r>
              <a:rPr spc="-35" dirty="0"/>
              <a:t>standard</a:t>
            </a:r>
            <a:r>
              <a:rPr spc="-15" dirty="0"/>
              <a:t> </a:t>
            </a:r>
            <a:r>
              <a:rPr spc="-25" dirty="0"/>
              <a:t>metrics</a:t>
            </a:r>
            <a:r>
              <a:rPr spc="-15" dirty="0"/>
              <a:t> </a:t>
            </a:r>
            <a:r>
              <a:rPr spc="-25" dirty="0"/>
              <a:t>and</a:t>
            </a:r>
          </a:p>
          <a:p>
            <a:pPr marL="12700">
              <a:lnSpc>
                <a:spcPts val="1180"/>
              </a:lnSpc>
            </a:pPr>
            <a:r>
              <a:rPr spc="-40" dirty="0"/>
              <a:t>cross-</a:t>
            </a:r>
            <a:r>
              <a:rPr spc="-10" dirty="0"/>
              <a:t>validation.</a:t>
            </a:r>
          </a:p>
          <a:p>
            <a:pPr marL="12700" marR="27305">
              <a:lnSpc>
                <a:spcPct val="100000"/>
              </a:lnSpc>
              <a:spcBef>
                <a:spcPts val="844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spc="-25" dirty="0"/>
              <a:t>code</a:t>
            </a:r>
            <a:r>
              <a:rPr spc="-40" dirty="0"/>
              <a:t> </a:t>
            </a:r>
            <a:r>
              <a:rPr spc="-20" dirty="0"/>
              <a:t>utilizes</a:t>
            </a:r>
            <a:r>
              <a:rPr spc="-35" dirty="0"/>
              <a:t> </a:t>
            </a:r>
            <a:r>
              <a:rPr spc="-10" dirty="0"/>
              <a:t>Streamlit</a:t>
            </a:r>
            <a:r>
              <a:rPr spc="-35" dirty="0"/>
              <a:t> </a:t>
            </a:r>
            <a:r>
              <a:rPr spc="-10" dirty="0"/>
              <a:t>for</a:t>
            </a:r>
            <a:r>
              <a:rPr spc="-30" dirty="0"/>
              <a:t> </a:t>
            </a:r>
            <a:r>
              <a:rPr spc="-20" dirty="0"/>
              <a:t>the</a:t>
            </a:r>
            <a:r>
              <a:rPr spc="-35" dirty="0"/>
              <a:t> </a:t>
            </a:r>
            <a:r>
              <a:rPr spc="-60" dirty="0"/>
              <a:t>web</a:t>
            </a:r>
            <a:r>
              <a:rPr spc="-20" dirty="0"/>
              <a:t> </a:t>
            </a:r>
            <a:r>
              <a:rPr spc="-30" dirty="0"/>
              <a:t>interface, </a:t>
            </a:r>
            <a:r>
              <a:rPr spc="-10" dirty="0"/>
              <a:t>PyTorch</a:t>
            </a:r>
            <a:r>
              <a:rPr spc="-35" dirty="0"/>
              <a:t> </a:t>
            </a:r>
            <a:r>
              <a:rPr spc="-25" dirty="0"/>
              <a:t>and</a:t>
            </a:r>
            <a:r>
              <a:rPr spc="-30" dirty="0"/>
              <a:t> Torchvision </a:t>
            </a:r>
            <a:r>
              <a:rPr spc="-10" dirty="0"/>
              <a:t>for</a:t>
            </a:r>
            <a:r>
              <a:rPr spc="-35" dirty="0"/>
              <a:t> </a:t>
            </a:r>
            <a:r>
              <a:rPr spc="-25" dirty="0"/>
              <a:t>AI </a:t>
            </a:r>
            <a:r>
              <a:rPr spc="-35" dirty="0"/>
              <a:t>models,</a:t>
            </a:r>
            <a:r>
              <a:rPr spc="10" dirty="0"/>
              <a:t> </a:t>
            </a:r>
            <a:r>
              <a:rPr spc="-30" dirty="0"/>
              <a:t>Adversarial</a:t>
            </a:r>
            <a:r>
              <a:rPr spc="10" dirty="0"/>
              <a:t> </a:t>
            </a:r>
            <a:r>
              <a:rPr spc="-45" dirty="0"/>
              <a:t>Robustness</a:t>
            </a:r>
            <a:r>
              <a:rPr spc="5" dirty="0"/>
              <a:t> </a:t>
            </a:r>
            <a:r>
              <a:rPr spc="-20" dirty="0"/>
              <a:t>Toolbox</a:t>
            </a:r>
            <a:r>
              <a:rPr spc="10" dirty="0"/>
              <a:t> </a:t>
            </a:r>
            <a:r>
              <a:rPr dirty="0"/>
              <a:t>(ART)</a:t>
            </a:r>
            <a:r>
              <a:rPr spc="15" dirty="0"/>
              <a:t> </a:t>
            </a:r>
            <a:r>
              <a:rPr spc="-10" dirty="0"/>
              <a:t>for</a:t>
            </a:r>
            <a:r>
              <a:rPr spc="10" dirty="0"/>
              <a:t> </a:t>
            </a:r>
            <a:r>
              <a:rPr dirty="0"/>
              <a:t>attack</a:t>
            </a:r>
            <a:r>
              <a:rPr spc="10" dirty="0"/>
              <a:t> </a:t>
            </a:r>
            <a:r>
              <a:rPr spc="-40" dirty="0"/>
              <a:t>generation,</a:t>
            </a:r>
            <a:r>
              <a:rPr spc="10" dirty="0"/>
              <a:t> </a:t>
            </a:r>
            <a:r>
              <a:rPr dirty="0"/>
              <a:t>Grad-</a:t>
            </a:r>
            <a:r>
              <a:rPr spc="-25" dirty="0"/>
              <a:t>CAM </a:t>
            </a:r>
            <a:r>
              <a:rPr spc="-10" dirty="0"/>
              <a:t>for</a:t>
            </a:r>
            <a:r>
              <a:rPr spc="-30" dirty="0"/>
              <a:t> </a:t>
            </a:r>
            <a:r>
              <a:rPr spc="-40" dirty="0"/>
              <a:t>heatmap</a:t>
            </a:r>
            <a:r>
              <a:rPr spc="-20" dirty="0"/>
              <a:t> </a:t>
            </a:r>
            <a:r>
              <a:rPr spc="-25" dirty="0"/>
              <a:t>visualization,</a:t>
            </a:r>
            <a:r>
              <a:rPr spc="-20" dirty="0"/>
              <a:t> </a:t>
            </a:r>
            <a:r>
              <a:rPr spc="-35" dirty="0"/>
              <a:t>Scikit-</a:t>
            </a:r>
            <a:r>
              <a:rPr spc="-30" dirty="0"/>
              <a:t>Image</a:t>
            </a:r>
            <a:r>
              <a:rPr spc="-25" dirty="0"/>
              <a:t> </a:t>
            </a:r>
            <a:r>
              <a:rPr spc="-10" dirty="0"/>
              <a:t>for</a:t>
            </a:r>
            <a:r>
              <a:rPr spc="-20" dirty="0"/>
              <a:t> </a:t>
            </a:r>
            <a:r>
              <a:rPr spc="-25" dirty="0"/>
              <a:t>metrics,</a:t>
            </a:r>
            <a:r>
              <a:rPr spc="-20" dirty="0"/>
              <a:t> </a:t>
            </a:r>
            <a:r>
              <a:rPr spc="-25" dirty="0"/>
              <a:t>Hugging</a:t>
            </a:r>
            <a:r>
              <a:rPr spc="-20" dirty="0"/>
              <a:t> Face</a:t>
            </a:r>
            <a:r>
              <a:rPr spc="-25" dirty="0"/>
              <a:t> Datasets</a:t>
            </a:r>
            <a:r>
              <a:rPr spc="-15" dirty="0"/>
              <a:t> </a:t>
            </a:r>
            <a:r>
              <a:rPr spc="-25" dirty="0"/>
              <a:t>for </a:t>
            </a:r>
            <a:r>
              <a:rPr spc="-35" dirty="0"/>
              <a:t>streaming </a:t>
            </a:r>
            <a:r>
              <a:rPr spc="-10" dirty="0"/>
              <a:t>data,</a:t>
            </a:r>
            <a:r>
              <a:rPr spc="-30" dirty="0"/>
              <a:t> </a:t>
            </a:r>
            <a:r>
              <a:rPr spc="-25" dirty="0"/>
              <a:t>and</a:t>
            </a:r>
            <a:r>
              <a:rPr spc="-30" dirty="0"/>
              <a:t> </a:t>
            </a:r>
            <a:r>
              <a:rPr dirty="0"/>
              <a:t>utility</a:t>
            </a:r>
            <a:r>
              <a:rPr spc="-35" dirty="0"/>
              <a:t> libraries</a:t>
            </a:r>
            <a:r>
              <a:rPr spc="-30" dirty="0"/>
              <a:t> </a:t>
            </a:r>
            <a:r>
              <a:rPr spc="-25" dirty="0"/>
              <a:t>including</a:t>
            </a:r>
            <a:r>
              <a:rPr spc="-35" dirty="0"/>
              <a:t> </a:t>
            </a:r>
            <a:r>
              <a:rPr spc="-10" dirty="0"/>
              <a:t>NumPy,</a:t>
            </a:r>
            <a:r>
              <a:rPr spc="-30" dirty="0"/>
              <a:t> Pandas, </a:t>
            </a:r>
            <a:r>
              <a:rPr dirty="0"/>
              <a:t>Plotly,</a:t>
            </a:r>
            <a:r>
              <a:rPr spc="-30" dirty="0"/>
              <a:t> </a:t>
            </a:r>
            <a:r>
              <a:rPr dirty="0"/>
              <a:t>Pillow,</a:t>
            </a:r>
            <a:r>
              <a:rPr spc="-30" dirty="0"/>
              <a:t> </a:t>
            </a:r>
            <a:r>
              <a:rPr spc="-25" dirty="0"/>
              <a:t>and </a:t>
            </a:r>
            <a:r>
              <a:rPr spc="-10" dirty="0"/>
              <a:t>Requests.</a:t>
            </a:r>
          </a:p>
          <a:p>
            <a:pPr marL="12700" marR="6350">
              <a:lnSpc>
                <a:spcPct val="100000"/>
              </a:lnSpc>
              <a:spcBef>
                <a:spcPts val="545"/>
              </a:spcBef>
            </a:pPr>
            <a:r>
              <a:rPr spc="-20" dirty="0"/>
              <a:t>Classical</a:t>
            </a:r>
            <a:r>
              <a:rPr spc="-15" dirty="0"/>
              <a:t> </a:t>
            </a:r>
            <a:r>
              <a:rPr spc="-35" dirty="0"/>
              <a:t>machine</a:t>
            </a:r>
            <a:r>
              <a:rPr spc="-15" dirty="0"/>
              <a:t> </a:t>
            </a:r>
            <a:r>
              <a:rPr spc="-40" dirty="0"/>
              <a:t>learning</a:t>
            </a:r>
            <a:r>
              <a:rPr spc="-15" dirty="0"/>
              <a:t> </a:t>
            </a:r>
            <a:r>
              <a:rPr spc="-55" dirty="0"/>
              <a:t>was</a:t>
            </a:r>
            <a:r>
              <a:rPr spc="-15" dirty="0"/>
              <a:t> </a:t>
            </a:r>
            <a:r>
              <a:rPr spc="-45" dirty="0"/>
              <a:t>chosen</a:t>
            </a:r>
            <a:r>
              <a:rPr spc="-15" dirty="0"/>
              <a:t> </a:t>
            </a:r>
            <a:r>
              <a:rPr spc="-30" dirty="0"/>
              <a:t>deliberately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40" dirty="0"/>
              <a:t>enable</a:t>
            </a:r>
            <a:r>
              <a:rPr spc="-20" dirty="0"/>
              <a:t> </a:t>
            </a:r>
            <a:r>
              <a:rPr spc="-30" dirty="0"/>
              <a:t>faster</a:t>
            </a:r>
            <a:r>
              <a:rPr spc="-10" dirty="0"/>
              <a:t> iteration,</a:t>
            </a:r>
            <a:r>
              <a:rPr spc="500" dirty="0"/>
              <a:t> </a:t>
            </a:r>
            <a:r>
              <a:rPr spc="-55" dirty="0"/>
              <a:t>easier</a:t>
            </a:r>
            <a:r>
              <a:rPr spc="-20" dirty="0"/>
              <a:t> </a:t>
            </a:r>
            <a:r>
              <a:rPr spc="-35" dirty="0"/>
              <a:t>reproducibility,</a:t>
            </a:r>
            <a:r>
              <a:rPr spc="-5" dirty="0"/>
              <a:t> </a:t>
            </a:r>
            <a:r>
              <a:rPr spc="-40" dirty="0"/>
              <a:t>and</a:t>
            </a:r>
            <a:r>
              <a:rPr spc="-15" dirty="0"/>
              <a:t> </a:t>
            </a:r>
            <a:r>
              <a:rPr spc="-40" dirty="0"/>
              <a:t>clearer</a:t>
            </a:r>
            <a:r>
              <a:rPr spc="-15" dirty="0"/>
              <a:t> </a:t>
            </a:r>
            <a:r>
              <a:rPr spc="-30" dirty="0"/>
              <a:t>interpretability</a:t>
            </a:r>
            <a:r>
              <a:rPr spc="-1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25" dirty="0"/>
              <a:t>results.</a:t>
            </a:r>
            <a:r>
              <a:rPr spc="110" dirty="0"/>
              <a:t> </a:t>
            </a:r>
            <a:r>
              <a:rPr spc="-10" dirty="0"/>
              <a:t>Models</a:t>
            </a:r>
            <a:r>
              <a:rPr spc="-15" dirty="0"/>
              <a:t> </a:t>
            </a:r>
            <a:r>
              <a:rPr spc="-70" dirty="0"/>
              <a:t>were</a:t>
            </a:r>
            <a:r>
              <a:rPr spc="-5" dirty="0"/>
              <a:t> </a:t>
            </a:r>
            <a:r>
              <a:rPr spc="-20" dirty="0"/>
              <a:t>evaluated </a:t>
            </a:r>
            <a:r>
              <a:rPr spc="-30" dirty="0"/>
              <a:t>using</a:t>
            </a:r>
            <a:r>
              <a:rPr spc="10" dirty="0"/>
              <a:t> </a:t>
            </a:r>
            <a:r>
              <a:rPr spc="-40" dirty="0"/>
              <a:t>accuracy,</a:t>
            </a:r>
            <a:r>
              <a:rPr spc="20" dirty="0"/>
              <a:t> </a:t>
            </a:r>
            <a:r>
              <a:rPr spc="-25" dirty="0"/>
              <a:t>precision/recall,</a:t>
            </a:r>
            <a:r>
              <a:rPr spc="15" dirty="0"/>
              <a:t> </a:t>
            </a:r>
            <a:r>
              <a:rPr spc="-35" dirty="0"/>
              <a:t>F1-</a:t>
            </a:r>
            <a:r>
              <a:rPr spc="-30" dirty="0"/>
              <a:t>score,</a:t>
            </a:r>
            <a:r>
              <a:rPr spc="20" dirty="0"/>
              <a:t> </a:t>
            </a:r>
            <a:r>
              <a:rPr dirty="0"/>
              <a:t>ROC</a:t>
            </a:r>
            <a:r>
              <a:rPr spc="10" dirty="0"/>
              <a:t> </a:t>
            </a:r>
            <a:r>
              <a:rPr dirty="0"/>
              <a:t>AUC,</a:t>
            </a:r>
            <a:r>
              <a:rPr spc="20" dirty="0"/>
              <a:t> </a:t>
            </a:r>
            <a:r>
              <a:rPr spc="-25" dirty="0"/>
              <a:t>and</a:t>
            </a:r>
            <a:r>
              <a:rPr spc="15" dirty="0"/>
              <a:t> </a:t>
            </a:r>
            <a:r>
              <a:rPr spc="-40" dirty="0"/>
              <a:t>cross-</a:t>
            </a:r>
            <a:r>
              <a:rPr spc="-10" dirty="0"/>
              <a:t>validation.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271" y="3346348"/>
            <a:ext cx="4600746" cy="114402"/>
            <a:chOff x="7271" y="3346348"/>
            <a:chExt cx="4600746" cy="114402"/>
          </a:xfrm>
        </p:grpSpPr>
        <p:sp>
          <p:nvSpPr>
            <p:cNvPr id="5" name="object 5"/>
            <p:cNvSpPr/>
            <p:nvPr/>
          </p:nvSpPr>
          <p:spPr>
            <a:xfrm>
              <a:off x="7271" y="3350895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0" name="object 10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Problem</a:t>
            </a:r>
            <a:r>
              <a:rPr spc="-35" dirty="0"/>
              <a:t> </a:t>
            </a:r>
            <a:r>
              <a:rPr spc="-30" dirty="0"/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51762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61795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71828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81860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091880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5844" y="914499"/>
            <a:ext cx="4170679" cy="177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2366645" indent="-277495">
              <a:lnSpc>
                <a:spcPct val="125299"/>
              </a:lnSpc>
              <a:spcBef>
                <a:spcPts val="100"/>
              </a:spcBef>
            </a:pPr>
            <a:r>
              <a:rPr sz="1100" spc="-40" dirty="0">
                <a:latin typeface="Tahoma"/>
                <a:cs typeface="Tahoma"/>
              </a:rPr>
              <a:t>Real-world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vision </a:t>
            </a:r>
            <a:r>
              <a:rPr sz="1100" spc="-50" dirty="0">
                <a:latin typeface="Tahoma"/>
                <a:cs typeface="Tahoma"/>
              </a:rPr>
              <a:t>systems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face: </a:t>
            </a:r>
            <a:r>
              <a:rPr sz="1100" spc="-50" dirty="0">
                <a:latin typeface="Tahoma"/>
                <a:cs typeface="Tahoma"/>
              </a:rPr>
              <a:t>Sensor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noise</a:t>
            </a:r>
            <a:endParaRPr sz="1100">
              <a:latin typeface="Tahoma"/>
              <a:cs typeface="Tahoma"/>
            </a:endParaRPr>
          </a:p>
          <a:p>
            <a:pPr marL="289560" marR="2803525">
              <a:lnSpc>
                <a:spcPct val="125299"/>
              </a:lnSpc>
            </a:pPr>
            <a:r>
              <a:rPr sz="1100" dirty="0">
                <a:latin typeface="Tahoma"/>
                <a:cs typeface="Tahoma"/>
              </a:rPr>
              <a:t>Motion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blur </a:t>
            </a:r>
            <a:r>
              <a:rPr sz="1100" spc="-10" dirty="0">
                <a:latin typeface="Tahoma"/>
                <a:cs typeface="Tahoma"/>
              </a:rPr>
              <a:t>Occlusion Lighting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variations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35" dirty="0">
                <a:latin typeface="Tahoma"/>
                <a:cs typeface="Tahoma"/>
              </a:rPr>
              <a:t>Adversarial</a:t>
            </a:r>
            <a:r>
              <a:rPr sz="1100" spc="-10" dirty="0">
                <a:latin typeface="Tahoma"/>
                <a:cs typeface="Tahoma"/>
              </a:rPr>
              <a:t> manipulation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1150"/>
              </a:spcBef>
            </a:pPr>
            <a:r>
              <a:rPr sz="1100" spc="-20" dirty="0">
                <a:latin typeface="Tahoma"/>
                <a:cs typeface="Tahoma"/>
              </a:rPr>
              <a:t>Even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imperceptible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perturbations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cause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misclassification,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leading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 </a:t>
            </a:r>
            <a:r>
              <a:rPr sz="1100" spc="-20" dirty="0">
                <a:latin typeface="Tahoma"/>
                <a:cs typeface="Tahoma"/>
              </a:rPr>
              <a:t>potential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security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failures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sensitive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applications.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5" name="object 15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Objective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078382"/>
            <a:ext cx="4432935" cy="186690"/>
          </a:xfrm>
          <a:custGeom>
            <a:avLst/>
            <a:gdLst/>
            <a:ahLst/>
            <a:cxnLst/>
            <a:rect l="l" t="t" r="r" b="b"/>
            <a:pathLst>
              <a:path w="4432935" h="18669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8"/>
                </a:lnTo>
                <a:lnTo>
                  <a:pt x="4432566" y="186558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FE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1107541"/>
            <a:ext cx="104140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spc="-10" dirty="0">
                <a:solidFill>
                  <a:srgbClr val="2C2C2C"/>
                </a:solidFill>
                <a:latin typeface="Tahoma"/>
                <a:cs typeface="Tahoma"/>
              </a:rPr>
              <a:t>Primary</a:t>
            </a:r>
            <a:r>
              <a:rPr sz="1100" spc="-80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2C2C2C"/>
                </a:solidFill>
                <a:latin typeface="Tahoma"/>
                <a:cs typeface="Tahoma"/>
              </a:rPr>
              <a:t>Objective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854428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064461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274493"/>
            <a:ext cx="65265" cy="652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484526"/>
            <a:ext cx="65265" cy="6526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38544" y="1266849"/>
            <a:ext cx="4432935" cy="13258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403860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solidFill>
                  <a:srgbClr val="2C2C2C"/>
                </a:solidFill>
                <a:latin typeface="Tahoma"/>
                <a:cs typeface="Tahoma"/>
              </a:rPr>
              <a:t>Evaluate</a:t>
            </a:r>
            <a:r>
              <a:rPr sz="1100" spc="-20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2C2C2C"/>
                </a:solidFill>
                <a:latin typeface="Tahoma"/>
                <a:cs typeface="Tahoma"/>
              </a:rPr>
              <a:t>robustness</a:t>
            </a:r>
            <a:r>
              <a:rPr sz="1100" spc="-20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C2C2C"/>
                </a:solidFill>
                <a:latin typeface="Tahoma"/>
                <a:cs typeface="Tahoma"/>
              </a:rPr>
              <a:t>of</a:t>
            </a:r>
            <a:r>
              <a:rPr sz="1100" spc="-20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2C2C2C"/>
                </a:solidFill>
                <a:latin typeface="Tahoma"/>
                <a:cs typeface="Tahoma"/>
              </a:rPr>
              <a:t>image-</a:t>
            </a:r>
            <a:r>
              <a:rPr sz="1100" spc="-30" dirty="0">
                <a:solidFill>
                  <a:srgbClr val="2C2C2C"/>
                </a:solidFill>
                <a:latin typeface="Tahoma"/>
                <a:cs typeface="Tahoma"/>
              </a:rPr>
              <a:t>classification</a:t>
            </a:r>
            <a:r>
              <a:rPr sz="1100" spc="-20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2C2C2C"/>
                </a:solidFill>
                <a:latin typeface="Tahoma"/>
                <a:cs typeface="Tahoma"/>
              </a:rPr>
              <a:t>models</a:t>
            </a:r>
            <a:r>
              <a:rPr sz="1100" spc="-20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2C2C2C"/>
                </a:solidFill>
                <a:latin typeface="Tahoma"/>
                <a:cs typeface="Tahoma"/>
              </a:rPr>
              <a:t>against</a:t>
            </a:r>
            <a:r>
              <a:rPr sz="1100" spc="-20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2C2C2C"/>
                </a:solidFill>
                <a:latin typeface="Tahoma"/>
                <a:cs typeface="Tahoma"/>
              </a:rPr>
              <a:t>adversarial </a:t>
            </a:r>
            <a:r>
              <a:rPr sz="1100" spc="-20" dirty="0">
                <a:solidFill>
                  <a:srgbClr val="2C2C2C"/>
                </a:solidFill>
                <a:latin typeface="Tahoma"/>
                <a:cs typeface="Tahoma"/>
              </a:rPr>
              <a:t>attacks</a:t>
            </a:r>
            <a:r>
              <a:rPr sz="1100" spc="-40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2C2C2C"/>
                </a:solidFill>
                <a:latin typeface="Tahoma"/>
                <a:cs typeface="Tahoma"/>
              </a:rPr>
              <a:t>and </a:t>
            </a:r>
            <a:r>
              <a:rPr sz="1100" spc="-20" dirty="0">
                <a:solidFill>
                  <a:srgbClr val="2C2C2C"/>
                </a:solidFill>
                <a:latin typeface="Tahoma"/>
                <a:cs typeface="Tahoma"/>
              </a:rPr>
              <a:t>identify</a:t>
            </a:r>
            <a:r>
              <a:rPr sz="1100" spc="-40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2C2C2C"/>
                </a:solidFill>
                <a:latin typeface="Tahoma"/>
                <a:cs typeface="Tahoma"/>
              </a:rPr>
              <a:t>security</a:t>
            </a:r>
            <a:r>
              <a:rPr sz="1100" spc="-40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2C2C2C"/>
                </a:solidFill>
                <a:latin typeface="Tahoma"/>
                <a:cs typeface="Tahoma"/>
              </a:rPr>
              <a:t>risks</a:t>
            </a:r>
            <a:r>
              <a:rPr sz="1100" spc="-35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2C2C2C"/>
                </a:solidFill>
                <a:latin typeface="Tahoma"/>
                <a:cs typeface="Tahoma"/>
              </a:rPr>
              <a:t>before</a:t>
            </a:r>
            <a:r>
              <a:rPr sz="1100" spc="-35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2C2C2C"/>
                </a:solidFill>
                <a:latin typeface="Tahoma"/>
                <a:cs typeface="Tahoma"/>
              </a:rPr>
              <a:t>deployment.</a:t>
            </a:r>
            <a:endParaRPr sz="1100">
              <a:latin typeface="Tahoma"/>
              <a:cs typeface="Tahoma"/>
            </a:endParaRPr>
          </a:p>
          <a:p>
            <a:pPr marL="276860" marR="1642745">
              <a:lnSpc>
                <a:spcPct val="125299"/>
              </a:lnSpc>
              <a:spcBef>
                <a:spcPts val="960"/>
              </a:spcBef>
            </a:pPr>
            <a:r>
              <a:rPr sz="1100" spc="-10" dirty="0">
                <a:latin typeface="Tahoma"/>
                <a:cs typeface="Tahoma"/>
              </a:rPr>
              <a:t>Test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pretrained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models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under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perturbations </a:t>
            </a:r>
            <a:r>
              <a:rPr sz="1100" spc="-35" dirty="0">
                <a:latin typeface="Tahoma"/>
                <a:cs typeface="Tahoma"/>
              </a:rPr>
              <a:t>Measure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prediction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stability</a:t>
            </a:r>
            <a:endParaRPr sz="1100">
              <a:latin typeface="Tahoma"/>
              <a:cs typeface="Tahoma"/>
            </a:endParaRPr>
          </a:p>
          <a:p>
            <a:pPr marL="27686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Tahoma"/>
                <a:cs typeface="Tahoma"/>
              </a:rPr>
              <a:t>Visualize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decision</a:t>
            </a:r>
            <a:r>
              <a:rPr sz="1100" spc="-10" dirty="0">
                <a:latin typeface="Tahoma"/>
                <a:cs typeface="Tahoma"/>
              </a:rPr>
              <a:t> shifts</a:t>
            </a:r>
            <a:endParaRPr sz="1100">
              <a:latin typeface="Tahoma"/>
              <a:cs typeface="Tahoma"/>
            </a:endParaRPr>
          </a:p>
          <a:p>
            <a:pPr marL="276860">
              <a:lnSpc>
                <a:spcPct val="100000"/>
              </a:lnSpc>
              <a:spcBef>
                <a:spcPts val="334"/>
              </a:spcBef>
            </a:pPr>
            <a:r>
              <a:rPr sz="1100" spc="-45" dirty="0">
                <a:latin typeface="Tahoma"/>
                <a:cs typeface="Tahoma"/>
              </a:rPr>
              <a:t>Generate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scientific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vulnerability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reports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20" name="object 20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6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6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6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System</a:t>
            </a:r>
            <a:r>
              <a:rPr spc="-75" dirty="0"/>
              <a:t> </a:t>
            </a:r>
            <a:r>
              <a:rPr spc="-45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304085"/>
            <a:ext cx="2609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system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consists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three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major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modules: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568230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1917" y="1555310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778263"/>
            <a:ext cx="114214" cy="114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51917" y="176534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988296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1917" y="197536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2932" y="1470340"/>
            <a:ext cx="3602354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b="1" spc="-25" dirty="0">
                <a:latin typeface="Arial"/>
                <a:cs typeface="Arial"/>
              </a:rPr>
              <a:t>Live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Sentinel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Module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–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Real-</a:t>
            </a:r>
            <a:r>
              <a:rPr sz="1100" spc="-20" dirty="0">
                <a:latin typeface="Tahoma"/>
                <a:cs typeface="Tahoma"/>
              </a:rPr>
              <a:t>time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robustness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monitoring </a:t>
            </a:r>
            <a:r>
              <a:rPr sz="1100" b="1" spc="-40" dirty="0">
                <a:latin typeface="Arial"/>
                <a:cs typeface="Arial"/>
              </a:rPr>
              <a:t>Single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Image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Scientific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60" dirty="0">
                <a:latin typeface="Arial"/>
                <a:cs typeface="Arial"/>
              </a:rPr>
              <a:t>Analysis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–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Deep</a:t>
            </a:r>
            <a:r>
              <a:rPr sz="1100" spc="-45" dirty="0">
                <a:latin typeface="Tahoma"/>
                <a:cs typeface="Tahoma"/>
              </a:rPr>
              <a:t> forensic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evaluation </a:t>
            </a:r>
            <a:r>
              <a:rPr sz="1100" b="1" dirty="0">
                <a:latin typeface="Arial"/>
                <a:cs typeface="Arial"/>
              </a:rPr>
              <a:t>Batch</a:t>
            </a:r>
            <a:r>
              <a:rPr sz="1100" b="1" spc="7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Dataset</a:t>
            </a:r>
            <a:r>
              <a:rPr sz="1100" b="1" spc="7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Audit</a:t>
            </a:r>
            <a:r>
              <a:rPr sz="1100" b="1" spc="8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(RAID)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– </a:t>
            </a:r>
            <a:r>
              <a:rPr sz="1100" spc="-50" dirty="0">
                <a:latin typeface="Tahoma"/>
                <a:cs typeface="Tahoma"/>
              </a:rPr>
              <a:t>Large-</a:t>
            </a:r>
            <a:r>
              <a:rPr sz="1100" spc="-40" dirty="0">
                <a:latin typeface="Tahoma"/>
                <a:cs typeface="Tahoma"/>
              </a:rPr>
              <a:t>scale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benchmarking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7" name="object 17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5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5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5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0017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8F4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199895"/>
            <a:ext cx="15284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5" dirty="0">
                <a:solidFill>
                  <a:srgbClr val="2C2C2C"/>
                </a:solidFill>
                <a:latin typeface="Tahoma"/>
                <a:cs typeface="Tahoma"/>
              </a:rPr>
              <a:t>System</a:t>
            </a:r>
            <a:r>
              <a:rPr sz="1400" spc="-75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C2C2C"/>
                </a:solidFill>
                <a:latin typeface="Tahoma"/>
                <a:cs typeface="Tahoma"/>
              </a:rPr>
              <a:t>Architecture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69087" y="537413"/>
            <a:ext cx="3470275" cy="2809240"/>
            <a:chOff x="569087" y="537413"/>
            <a:chExt cx="3470275" cy="2809240"/>
          </a:xfrm>
        </p:grpSpPr>
        <p:sp>
          <p:nvSpPr>
            <p:cNvPr id="5" name="object 5"/>
            <p:cNvSpPr/>
            <p:nvPr/>
          </p:nvSpPr>
          <p:spPr>
            <a:xfrm>
              <a:off x="571639" y="537438"/>
              <a:ext cx="5080" cy="2809240"/>
            </a:xfrm>
            <a:custGeom>
              <a:avLst/>
              <a:gdLst/>
              <a:ahLst/>
              <a:cxnLst/>
              <a:rect l="l" t="t" r="r" b="b"/>
              <a:pathLst>
                <a:path w="5079" h="2809240">
                  <a:moveTo>
                    <a:pt x="0" y="2808909"/>
                  </a:moveTo>
                  <a:lnTo>
                    <a:pt x="5054" y="2808909"/>
                  </a:lnTo>
                  <a:lnTo>
                    <a:pt x="5054" y="0"/>
                  </a:lnTo>
                  <a:lnTo>
                    <a:pt x="0" y="0"/>
                  </a:lnTo>
                  <a:lnTo>
                    <a:pt x="0" y="28089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1627" y="539953"/>
              <a:ext cx="3465195" cy="0"/>
            </a:xfrm>
            <a:custGeom>
              <a:avLst/>
              <a:gdLst/>
              <a:ahLst/>
              <a:cxnLst/>
              <a:rect l="l" t="t" r="r" b="b"/>
              <a:pathLst>
                <a:path w="3465195">
                  <a:moveTo>
                    <a:pt x="0" y="0"/>
                  </a:moveTo>
                  <a:lnTo>
                    <a:pt x="346473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5116" y="2145968"/>
            <a:ext cx="20624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00" dirty="0">
                <a:latin typeface="Times New Roman"/>
                <a:cs typeface="Times New Roman"/>
              </a:rPr>
              <a:t>architecture_placeholder.png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537438"/>
            <a:ext cx="4608195" cy="2919095"/>
            <a:chOff x="0" y="537438"/>
            <a:chExt cx="4608195" cy="2919095"/>
          </a:xfrm>
        </p:grpSpPr>
        <p:sp>
          <p:nvSpPr>
            <p:cNvPr id="9" name="object 9"/>
            <p:cNvSpPr/>
            <p:nvPr/>
          </p:nvSpPr>
          <p:spPr>
            <a:xfrm>
              <a:off x="4031310" y="537438"/>
              <a:ext cx="5080" cy="2809240"/>
            </a:xfrm>
            <a:custGeom>
              <a:avLst/>
              <a:gdLst/>
              <a:ahLst/>
              <a:cxnLst/>
              <a:rect l="l" t="t" r="r" b="b"/>
              <a:pathLst>
                <a:path w="5079" h="2809240">
                  <a:moveTo>
                    <a:pt x="0" y="2808909"/>
                  </a:moveTo>
                  <a:lnTo>
                    <a:pt x="5054" y="2808909"/>
                  </a:lnTo>
                  <a:lnTo>
                    <a:pt x="5054" y="0"/>
                  </a:lnTo>
                  <a:lnTo>
                    <a:pt x="0" y="0"/>
                  </a:lnTo>
                  <a:lnTo>
                    <a:pt x="0" y="28089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5" name="object 15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  <p:sp>
        <p:nvSpPr>
          <p:cNvPr id="18" name="AutoShape 2" descr="blob:https://web.whatsapp.com/430ecf7f-04cd-4a32-91b2-affa454699e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5569"/>
            <a:ext cx="4608017" cy="280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199895"/>
            <a:ext cx="15817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Input</a:t>
            </a:r>
            <a:r>
              <a:rPr spc="-30" dirty="0"/>
              <a:t> </a:t>
            </a:r>
            <a:r>
              <a:rPr spc="120" dirty="0"/>
              <a:t>&amp;</a:t>
            </a:r>
            <a:r>
              <a:rPr spc="-20" dirty="0"/>
              <a:t> </a:t>
            </a:r>
            <a:r>
              <a:rPr dirty="0"/>
              <a:t>Model</a:t>
            </a:r>
            <a:r>
              <a:rPr spc="-15" dirty="0"/>
              <a:t> </a:t>
            </a:r>
            <a:r>
              <a:rPr spc="-45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48600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58632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6866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88730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398763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5844" y="1011349"/>
            <a:ext cx="2481580" cy="14960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latin typeface="Arial"/>
                <a:cs typeface="Arial"/>
              </a:rPr>
              <a:t>Inputs</a:t>
            </a:r>
            <a:endParaRPr sz="1100">
              <a:latin typeface="Arial"/>
              <a:cs typeface="Arial"/>
            </a:endParaRPr>
          </a:p>
          <a:p>
            <a:pPr marL="289560" marR="918210">
              <a:lnSpc>
                <a:spcPct val="125299"/>
              </a:lnSpc>
            </a:pPr>
            <a:r>
              <a:rPr sz="1100" dirty="0">
                <a:latin typeface="Tahoma"/>
                <a:cs typeface="Tahoma"/>
              </a:rPr>
              <a:t>Live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webcam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feed </a:t>
            </a:r>
            <a:r>
              <a:rPr sz="1100" spc="-35" dirty="0">
                <a:latin typeface="Tahoma"/>
                <a:cs typeface="Tahoma"/>
              </a:rPr>
              <a:t>Uploaded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images </a:t>
            </a:r>
            <a:r>
              <a:rPr sz="1100" spc="-40" dirty="0">
                <a:latin typeface="Tahoma"/>
                <a:cs typeface="Tahoma"/>
              </a:rPr>
              <a:t>HuggingFace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datasets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b="1" spc="-20" dirty="0">
                <a:latin typeface="Arial"/>
                <a:cs typeface="Arial"/>
              </a:rPr>
              <a:t>Models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Used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25299"/>
              </a:lnSpc>
            </a:pPr>
            <a:r>
              <a:rPr sz="1100" spc="-10" dirty="0">
                <a:latin typeface="Tahoma"/>
                <a:cs typeface="Tahoma"/>
              </a:rPr>
              <a:t>MobileNetV2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80" dirty="0">
                <a:latin typeface="Tahoma"/>
                <a:cs typeface="Tahoma"/>
              </a:rPr>
              <a:t>—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lightweight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inference </a:t>
            </a:r>
            <a:r>
              <a:rPr sz="1100" spc="-35" dirty="0">
                <a:latin typeface="Tahoma"/>
                <a:cs typeface="Tahoma"/>
              </a:rPr>
              <a:t>ResNet50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80" dirty="0">
                <a:latin typeface="Tahoma"/>
                <a:cs typeface="Tahoma"/>
              </a:rPr>
              <a:t>—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high-</a:t>
            </a:r>
            <a:r>
              <a:rPr sz="1100" spc="-35" dirty="0">
                <a:latin typeface="Tahoma"/>
                <a:cs typeface="Tahoma"/>
              </a:rPr>
              <a:t>accuracy</a:t>
            </a:r>
            <a:r>
              <a:rPr sz="1100" spc="-10" dirty="0">
                <a:latin typeface="Tahoma"/>
                <a:cs typeface="Tahoma"/>
              </a:rPr>
              <a:t> auditing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5" name="object 15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Adversarial</a:t>
            </a:r>
            <a:r>
              <a:rPr spc="15" dirty="0"/>
              <a:t> </a:t>
            </a:r>
            <a:r>
              <a:rPr dirty="0"/>
              <a:t>Attack</a:t>
            </a:r>
            <a:r>
              <a:rPr spc="20" dirty="0"/>
              <a:t> </a:t>
            </a:r>
            <a:r>
              <a:rPr spc="-40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48600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58632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6866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78698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88730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398763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844" y="1011349"/>
            <a:ext cx="1734820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22225" indent="-277495">
              <a:lnSpc>
                <a:spcPct val="125299"/>
              </a:lnSpc>
              <a:spcBef>
                <a:spcPts val="100"/>
              </a:spcBef>
            </a:pPr>
            <a:r>
              <a:rPr sz="1100" spc="-55" dirty="0">
                <a:latin typeface="Tahoma"/>
                <a:cs typeface="Tahoma"/>
              </a:rPr>
              <a:t>Implemented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attacks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include: </a:t>
            </a:r>
            <a:r>
              <a:rPr sz="1100" spc="-20" dirty="0">
                <a:latin typeface="Tahoma"/>
                <a:cs typeface="Tahoma"/>
              </a:rPr>
              <a:t>FGSM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25" dirty="0">
                <a:latin typeface="Tahoma"/>
                <a:cs typeface="Tahoma"/>
              </a:rPr>
              <a:t>PGD</a:t>
            </a:r>
            <a:endParaRPr sz="1100">
              <a:latin typeface="Tahoma"/>
              <a:cs typeface="Tahoma"/>
            </a:endParaRPr>
          </a:p>
          <a:p>
            <a:pPr marL="289560" marR="581025">
              <a:lnSpc>
                <a:spcPct val="125299"/>
              </a:lnSpc>
            </a:pPr>
            <a:r>
              <a:rPr sz="1100" spc="-25" dirty="0">
                <a:latin typeface="Tahoma"/>
                <a:cs typeface="Tahoma"/>
              </a:rPr>
              <a:t>Noise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Injection </a:t>
            </a:r>
            <a:r>
              <a:rPr sz="1100" dirty="0">
                <a:latin typeface="Tahoma"/>
                <a:cs typeface="Tahoma"/>
              </a:rPr>
              <a:t>Patch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Attacks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25299"/>
              </a:lnSpc>
            </a:pPr>
            <a:r>
              <a:rPr sz="1100" spc="-20" dirty="0">
                <a:latin typeface="Tahoma"/>
                <a:cs typeface="Tahoma"/>
              </a:rPr>
              <a:t>Oscillatory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Perturbations </a:t>
            </a:r>
            <a:r>
              <a:rPr sz="1100" spc="-25" dirty="0">
                <a:latin typeface="Tahoma"/>
                <a:cs typeface="Tahoma"/>
              </a:rPr>
              <a:t>Occlusion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Masking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6" name="object 16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8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8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8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Defense</a:t>
            </a:r>
            <a:r>
              <a:rPr spc="15" dirty="0"/>
              <a:t> </a:t>
            </a:r>
            <a:r>
              <a:rPr spc="120" dirty="0"/>
              <a:t>&amp;</a:t>
            </a:r>
            <a:r>
              <a:rPr spc="15" dirty="0"/>
              <a:t> </a:t>
            </a:r>
            <a:r>
              <a:rPr spc="-10" dirty="0"/>
              <a:t>Metrics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59382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69415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8948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99513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409545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5844" y="1022119"/>
            <a:ext cx="1457960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5080" indent="-277495">
              <a:lnSpc>
                <a:spcPct val="125299"/>
              </a:lnSpc>
              <a:spcBef>
                <a:spcPts val="100"/>
              </a:spcBef>
            </a:pPr>
            <a:r>
              <a:rPr sz="1100" b="1" spc="-35" dirty="0">
                <a:latin typeface="Arial"/>
                <a:cs typeface="Arial"/>
              </a:rPr>
              <a:t>Defense</a:t>
            </a:r>
            <a:r>
              <a:rPr sz="1100" b="1" spc="-10" dirty="0">
                <a:latin typeface="Arial"/>
                <a:cs typeface="Arial"/>
              </a:rPr>
              <a:t> Mechanisms </a:t>
            </a:r>
            <a:r>
              <a:rPr sz="1100" spc="-35" dirty="0">
                <a:latin typeface="Tahoma"/>
                <a:cs typeface="Tahoma"/>
              </a:rPr>
              <a:t>Gaussian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filtering </a:t>
            </a:r>
            <a:r>
              <a:rPr sz="1100" dirty="0">
                <a:latin typeface="Tahoma"/>
                <a:cs typeface="Tahoma"/>
              </a:rPr>
              <a:t>Live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defense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toggles</a:t>
            </a:r>
            <a:endParaRPr sz="1100">
              <a:latin typeface="Tahoma"/>
              <a:cs typeface="Tahoma"/>
            </a:endParaRPr>
          </a:p>
          <a:p>
            <a:pPr marL="289560" marR="193675" indent="-277495" algn="just">
              <a:lnSpc>
                <a:spcPct val="125299"/>
              </a:lnSpc>
            </a:pPr>
            <a:r>
              <a:rPr sz="1100" b="1" spc="-75" dirty="0">
                <a:latin typeface="Arial"/>
                <a:cs typeface="Arial"/>
              </a:rPr>
              <a:t>Robustness</a:t>
            </a:r>
            <a:r>
              <a:rPr sz="1100" b="1" spc="8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Metrics </a:t>
            </a:r>
            <a:r>
              <a:rPr sz="1100" spc="-40" dirty="0">
                <a:latin typeface="Tahoma"/>
                <a:cs typeface="Tahoma"/>
              </a:rPr>
              <a:t>Confidence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Drop </a:t>
            </a:r>
            <a:r>
              <a:rPr sz="1100" spc="-20" dirty="0">
                <a:latin typeface="Tahoma"/>
                <a:cs typeface="Tahoma"/>
              </a:rPr>
              <a:t>SSIM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20" dirty="0">
                <a:latin typeface="Tahoma"/>
                <a:cs typeface="Tahoma"/>
              </a:rPr>
              <a:t>PSNR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5" name="object 15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0017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8F4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199895"/>
            <a:ext cx="9677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5" dirty="0">
                <a:solidFill>
                  <a:srgbClr val="2C2C2C"/>
                </a:solidFill>
                <a:latin typeface="Tahoma"/>
                <a:cs typeface="Tahoma"/>
              </a:rPr>
              <a:t>System</a:t>
            </a:r>
            <a:r>
              <a:rPr sz="1400" spc="-75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C2C2C"/>
                </a:solidFill>
                <a:latin typeface="Tahoma"/>
                <a:cs typeface="Tahoma"/>
              </a:rPr>
              <a:t>Flow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2564" y="537413"/>
            <a:ext cx="3903345" cy="2809240"/>
            <a:chOff x="352564" y="537413"/>
            <a:chExt cx="3903345" cy="2809240"/>
          </a:xfrm>
        </p:grpSpPr>
        <p:sp>
          <p:nvSpPr>
            <p:cNvPr id="5" name="object 5"/>
            <p:cNvSpPr/>
            <p:nvPr/>
          </p:nvSpPr>
          <p:spPr>
            <a:xfrm>
              <a:off x="355104" y="537425"/>
              <a:ext cx="5080" cy="2809240"/>
            </a:xfrm>
            <a:custGeom>
              <a:avLst/>
              <a:gdLst/>
              <a:ahLst/>
              <a:cxnLst/>
              <a:rect l="l" t="t" r="r" b="b"/>
              <a:pathLst>
                <a:path w="5079" h="2809240">
                  <a:moveTo>
                    <a:pt x="0" y="2808922"/>
                  </a:moveTo>
                  <a:lnTo>
                    <a:pt x="5054" y="2808922"/>
                  </a:lnTo>
                  <a:lnTo>
                    <a:pt x="5054" y="0"/>
                  </a:lnTo>
                  <a:lnTo>
                    <a:pt x="0" y="0"/>
                  </a:lnTo>
                  <a:lnTo>
                    <a:pt x="0" y="28089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5104" y="539953"/>
              <a:ext cx="3898265" cy="0"/>
            </a:xfrm>
            <a:custGeom>
              <a:avLst/>
              <a:gdLst/>
              <a:ahLst/>
              <a:cxnLst/>
              <a:rect l="l" t="t" r="r" b="b"/>
              <a:pathLst>
                <a:path w="3898265">
                  <a:moveTo>
                    <a:pt x="0" y="0"/>
                  </a:moveTo>
                  <a:lnTo>
                    <a:pt x="3897795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88581" y="2362554"/>
            <a:ext cx="184403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5" dirty="0">
                <a:latin typeface="Times New Roman"/>
                <a:cs typeface="Times New Roman"/>
              </a:rPr>
              <a:t>flowchart_placeholder.png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537425"/>
            <a:ext cx="4608195" cy="2919095"/>
            <a:chOff x="0" y="537425"/>
            <a:chExt cx="4608195" cy="2919095"/>
          </a:xfrm>
        </p:grpSpPr>
        <p:sp>
          <p:nvSpPr>
            <p:cNvPr id="9" name="object 9"/>
            <p:cNvSpPr/>
            <p:nvPr/>
          </p:nvSpPr>
          <p:spPr>
            <a:xfrm>
              <a:off x="4247832" y="537425"/>
              <a:ext cx="5080" cy="2809240"/>
            </a:xfrm>
            <a:custGeom>
              <a:avLst/>
              <a:gdLst/>
              <a:ahLst/>
              <a:cxnLst/>
              <a:rect l="l" t="t" r="r" b="b"/>
              <a:pathLst>
                <a:path w="5079" h="2809240">
                  <a:moveTo>
                    <a:pt x="0" y="2808922"/>
                  </a:moveTo>
                  <a:lnTo>
                    <a:pt x="5054" y="2808922"/>
                  </a:lnTo>
                  <a:lnTo>
                    <a:pt x="5054" y="0"/>
                  </a:lnTo>
                  <a:lnTo>
                    <a:pt x="0" y="0"/>
                  </a:lnTo>
                  <a:lnTo>
                    <a:pt x="0" y="28089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5" name="object 15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93541"/>
            <a:ext cx="4610100" cy="2840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Visualization</a:t>
            </a:r>
            <a:r>
              <a:rPr spc="5" dirty="0"/>
              <a:t> </a:t>
            </a:r>
            <a:r>
              <a:rPr spc="120" dirty="0"/>
              <a:t>&amp;</a:t>
            </a:r>
            <a:r>
              <a:rPr spc="10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543" y="764311"/>
            <a:ext cx="1944370" cy="194437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10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</a:pPr>
            <a:r>
              <a:rPr sz="1100" spc="85" dirty="0">
                <a:latin typeface="Times New Roman"/>
                <a:cs typeface="Times New Roman"/>
              </a:rPr>
              <a:t>original_vs_adv.png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9624" y="764311"/>
            <a:ext cx="1944370" cy="194437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10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</a:pPr>
            <a:r>
              <a:rPr sz="1100" spc="60" dirty="0">
                <a:latin typeface="Times New Roman"/>
                <a:cs typeface="Times New Roman"/>
              </a:rPr>
              <a:t>gradcam_placeholder.png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844" y="2795389"/>
            <a:ext cx="1617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Original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vs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Adversarial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Images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5590" y="2795389"/>
            <a:ext cx="11664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Grad-CAM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Heatmaps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3" name="object 13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5" y="587375"/>
            <a:ext cx="4577571" cy="2549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Results</a:t>
            </a:r>
            <a:r>
              <a:rPr spc="-15" dirty="0"/>
              <a:t> </a:t>
            </a:r>
            <a:r>
              <a:rPr spc="120" dirty="0"/>
              <a:t>&amp;</a:t>
            </a:r>
            <a:r>
              <a:rPr spc="-15" dirty="0"/>
              <a:t> </a:t>
            </a:r>
            <a:r>
              <a:rPr spc="-45" dirty="0"/>
              <a:t>Observations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24165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34197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4423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54263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1296934"/>
            <a:ext cx="2639695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20" dirty="0">
                <a:latin typeface="Tahoma"/>
                <a:cs typeface="Tahoma"/>
              </a:rPr>
              <a:t>Significant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confidence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drop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under</a:t>
            </a:r>
            <a:r>
              <a:rPr sz="1100" spc="-10" dirty="0">
                <a:latin typeface="Tahoma"/>
                <a:cs typeface="Tahoma"/>
              </a:rPr>
              <a:t> attacks </a:t>
            </a:r>
            <a:r>
              <a:rPr sz="1100" dirty="0">
                <a:latin typeface="Tahoma"/>
                <a:cs typeface="Tahoma"/>
              </a:rPr>
              <a:t>Minimal </a:t>
            </a:r>
            <a:r>
              <a:rPr sz="1100" spc="-35" dirty="0">
                <a:latin typeface="Tahoma"/>
                <a:cs typeface="Tahoma"/>
              </a:rPr>
              <a:t>perturbations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cause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misclassification </a:t>
            </a:r>
            <a:r>
              <a:rPr sz="1100" spc="-10" dirty="0">
                <a:latin typeface="Tahoma"/>
                <a:cs typeface="Tahoma"/>
              </a:rPr>
              <a:t>Attention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shift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observed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Grad-</a:t>
            </a:r>
            <a:r>
              <a:rPr sz="1100" spc="-25" dirty="0">
                <a:latin typeface="Tahoma"/>
                <a:cs typeface="Tahoma"/>
              </a:rPr>
              <a:t>CAM </a:t>
            </a:r>
            <a:r>
              <a:rPr sz="1100" spc="-45" dirty="0">
                <a:latin typeface="Tahoma"/>
                <a:cs typeface="Tahoma"/>
              </a:rPr>
              <a:t>Dataset-</a:t>
            </a:r>
            <a:r>
              <a:rPr sz="1100" spc="-20" dirty="0">
                <a:latin typeface="Tahoma"/>
                <a:cs typeface="Tahoma"/>
              </a:rPr>
              <a:t>level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vulnerabilities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identified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4" name="object 14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6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6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6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Real-World</a:t>
            </a:r>
            <a:r>
              <a:rPr spc="-20" dirty="0"/>
              <a:t> Applications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29372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39405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49437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59470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69503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1202141"/>
            <a:ext cx="1909445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35" dirty="0">
                <a:latin typeface="Tahoma"/>
                <a:cs typeface="Tahoma"/>
              </a:rPr>
              <a:t>Surveillance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robustness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auditing Biometric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authentication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testing </a:t>
            </a:r>
            <a:r>
              <a:rPr sz="1100" spc="-35" dirty="0">
                <a:latin typeface="Tahoma"/>
                <a:cs typeface="Tahoma"/>
              </a:rPr>
              <a:t>Autonomous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vehicle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perception </a:t>
            </a:r>
            <a:r>
              <a:rPr sz="1100" dirty="0">
                <a:latin typeface="Tahoma"/>
                <a:cs typeface="Tahoma"/>
              </a:rPr>
              <a:t>AI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compliance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certification </a:t>
            </a:r>
            <a:r>
              <a:rPr sz="1100" spc="-25" dirty="0">
                <a:latin typeface="Tahoma"/>
                <a:cs typeface="Tahoma"/>
              </a:rPr>
              <a:t>Security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vulnerability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assessment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5" name="object 15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Key</a:t>
            </a:r>
            <a:r>
              <a:rPr spc="-20" dirty="0"/>
              <a:t> </a:t>
            </a:r>
            <a:r>
              <a:rPr spc="-55" dirty="0"/>
              <a:t>Innovations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29372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39405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49437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59470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69503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1202141"/>
            <a:ext cx="2033905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35" dirty="0">
                <a:latin typeface="Tahoma"/>
                <a:cs typeface="Tahoma"/>
              </a:rPr>
              <a:t>Real-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adversarial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monitoring </a:t>
            </a:r>
            <a:r>
              <a:rPr sz="1100" spc="-20" dirty="0">
                <a:latin typeface="Tahoma"/>
                <a:cs typeface="Tahoma"/>
              </a:rPr>
              <a:t>Oscillatory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perturbation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simulation Grad-</a:t>
            </a:r>
            <a:r>
              <a:rPr sz="1100" spc="-35" dirty="0">
                <a:latin typeface="Tahoma"/>
                <a:cs typeface="Tahoma"/>
              </a:rPr>
              <a:t>CAM-</a:t>
            </a:r>
            <a:r>
              <a:rPr sz="1100" spc="-10" dirty="0">
                <a:latin typeface="Tahoma"/>
                <a:cs typeface="Tahoma"/>
              </a:rPr>
              <a:t>based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visualization </a:t>
            </a:r>
            <a:r>
              <a:rPr sz="1100" spc="-45" dirty="0">
                <a:latin typeface="Tahoma"/>
                <a:cs typeface="Tahoma"/>
              </a:rPr>
              <a:t>Dataset-</a:t>
            </a:r>
            <a:r>
              <a:rPr sz="1100" spc="-20" dirty="0">
                <a:latin typeface="Tahoma"/>
                <a:cs typeface="Tahoma"/>
              </a:rPr>
              <a:t>scale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auditing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25" dirty="0">
                <a:latin typeface="Tahoma"/>
                <a:cs typeface="Tahoma"/>
              </a:rPr>
              <a:t>Automated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reporting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5" name="object 15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0017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8F4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-60" dirty="0"/>
              <a:t> </a:t>
            </a:r>
            <a:r>
              <a:rPr dirty="0"/>
              <a:t>Our</a:t>
            </a:r>
            <a:r>
              <a:rPr spc="-55" dirty="0"/>
              <a:t> </a:t>
            </a:r>
            <a:r>
              <a:rPr spc="-10" dirty="0"/>
              <a:t>Solution</a:t>
            </a:r>
            <a:r>
              <a:rPr spc="-55" dirty="0"/>
              <a:t> </a:t>
            </a:r>
            <a:r>
              <a:rPr spc="-25" dirty="0"/>
              <a:t>Stands</a:t>
            </a:r>
            <a:r>
              <a:rPr spc="-55" dirty="0"/>
              <a:t> </a:t>
            </a:r>
            <a:r>
              <a:rPr spc="-25" dirty="0"/>
              <a:t>Out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29372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3940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4943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59470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69503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1202141"/>
            <a:ext cx="3636010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35" dirty="0">
                <a:latin typeface="Tahoma"/>
                <a:cs typeface="Tahoma"/>
              </a:rPr>
              <a:t>Real-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35" dirty="0">
                <a:latin typeface="Tahoma"/>
                <a:cs typeface="Tahoma"/>
              </a:rPr>
              <a:t> monitoring </a:t>
            </a:r>
            <a:r>
              <a:rPr sz="1100" spc="-30" dirty="0">
                <a:latin typeface="Tahoma"/>
                <a:cs typeface="Tahoma"/>
              </a:rPr>
              <a:t>vs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offline evaluation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standard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tools Multi-</a:t>
            </a:r>
            <a:r>
              <a:rPr sz="1100" dirty="0">
                <a:latin typeface="Tahoma"/>
                <a:cs typeface="Tahoma"/>
              </a:rPr>
              <a:t>attack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coverage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including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novel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oscillatory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perturbations </a:t>
            </a:r>
            <a:r>
              <a:rPr sz="1100" spc="-45" dirty="0">
                <a:latin typeface="Tahoma"/>
                <a:cs typeface="Tahoma"/>
              </a:rPr>
              <a:t>Dataset-</a:t>
            </a:r>
            <a:r>
              <a:rPr sz="1100" spc="-20" dirty="0">
                <a:latin typeface="Tahoma"/>
                <a:cs typeface="Tahoma"/>
              </a:rPr>
              <a:t>scale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auditing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automated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reporting</a:t>
            </a:r>
            <a:endParaRPr sz="1100">
              <a:latin typeface="Tahoma"/>
              <a:cs typeface="Tahoma"/>
            </a:endParaRPr>
          </a:p>
          <a:p>
            <a:pPr marL="12700" marR="295910">
              <a:lnSpc>
                <a:spcPct val="125299"/>
              </a:lnSpc>
            </a:pPr>
            <a:r>
              <a:rPr sz="1100" dirty="0">
                <a:latin typeface="Tahoma"/>
                <a:cs typeface="Tahoma"/>
              </a:rPr>
              <a:t>Grad-CAM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visualization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interpretable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forensic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analysis Lightweight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inference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quick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testing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MobileNetV2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6" name="object 16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7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0017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8F4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Team</a:t>
            </a:r>
            <a:r>
              <a:rPr spc="-45" dirty="0"/>
              <a:t> </a:t>
            </a:r>
            <a:r>
              <a:rPr spc="-25" dirty="0"/>
              <a:t>Contributions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47597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29701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364156"/>
            <a:ext cx="3821429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latin typeface="Tahoma"/>
                <a:cs typeface="Tahoma"/>
              </a:rPr>
              <a:t>N.Vishal–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Adversarial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Attack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Layer,Visualization,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Grad-</a:t>
            </a:r>
            <a:r>
              <a:rPr sz="1100" dirty="0">
                <a:latin typeface="Tahoma"/>
                <a:cs typeface="Tahoma"/>
              </a:rPr>
              <a:t>CAM,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35" dirty="0">
                <a:latin typeface="Tahoma"/>
                <a:cs typeface="Tahoma"/>
              </a:rPr>
              <a:t>Analysis,System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Integration,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Model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Implementation</a:t>
            </a:r>
            <a:endParaRPr sz="1100">
              <a:latin typeface="Tahoma"/>
              <a:cs typeface="Tahoma"/>
            </a:endParaRPr>
          </a:p>
          <a:p>
            <a:pPr marL="12700" marR="59055">
              <a:lnSpc>
                <a:spcPct val="102600"/>
              </a:lnSpc>
              <a:spcBef>
                <a:spcPts val="300"/>
              </a:spcBef>
            </a:pPr>
            <a:r>
              <a:rPr sz="1100" spc="-20" dirty="0">
                <a:latin typeface="Tahoma"/>
                <a:cs typeface="Tahoma"/>
              </a:rPr>
              <a:t>M.Charan </a:t>
            </a:r>
            <a:r>
              <a:rPr sz="1100" dirty="0">
                <a:latin typeface="Tahoma"/>
                <a:cs typeface="Tahoma"/>
              </a:rPr>
              <a:t>–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Reporting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Documentation,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Streaming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45" dirty="0">
                <a:latin typeface="Tahoma"/>
                <a:cs typeface="Tahoma"/>
              </a:rPr>
              <a:t>Interface,</a:t>
            </a:r>
            <a:r>
              <a:rPr sz="1100" spc="-20" dirty="0">
                <a:latin typeface="Tahoma"/>
                <a:cs typeface="Tahoma"/>
              </a:rPr>
              <a:t> Evaluation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Metrics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3" name="object 13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4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4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4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0017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8F4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199895"/>
            <a:ext cx="8223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2C2C2C"/>
                </a:solidFill>
                <a:latin typeface="Tahoma"/>
                <a:cs typeface="Tahoma"/>
              </a:rPr>
              <a:t>Live</a:t>
            </a:r>
            <a:r>
              <a:rPr sz="1400" spc="-95" dirty="0">
                <a:solidFill>
                  <a:srgbClr val="2C2C2C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C2C2C"/>
                </a:solidFill>
                <a:latin typeface="Tahoma"/>
                <a:cs typeface="Tahoma"/>
              </a:rPr>
              <a:t>Demo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85647" y="537413"/>
            <a:ext cx="3037205" cy="2809240"/>
            <a:chOff x="785647" y="537413"/>
            <a:chExt cx="3037205" cy="2809240"/>
          </a:xfrm>
        </p:grpSpPr>
        <p:sp>
          <p:nvSpPr>
            <p:cNvPr id="5" name="object 5"/>
            <p:cNvSpPr/>
            <p:nvPr/>
          </p:nvSpPr>
          <p:spPr>
            <a:xfrm>
              <a:off x="788187" y="537425"/>
              <a:ext cx="5080" cy="2809240"/>
            </a:xfrm>
            <a:custGeom>
              <a:avLst/>
              <a:gdLst/>
              <a:ahLst/>
              <a:cxnLst/>
              <a:rect l="l" t="t" r="r" b="b"/>
              <a:pathLst>
                <a:path w="5079" h="2809240">
                  <a:moveTo>
                    <a:pt x="0" y="2808922"/>
                  </a:moveTo>
                  <a:lnTo>
                    <a:pt x="5054" y="2808922"/>
                  </a:lnTo>
                  <a:lnTo>
                    <a:pt x="5054" y="0"/>
                  </a:lnTo>
                  <a:lnTo>
                    <a:pt x="0" y="0"/>
                  </a:lnTo>
                  <a:lnTo>
                    <a:pt x="0" y="28089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8187" y="539953"/>
              <a:ext cx="3032125" cy="0"/>
            </a:xfrm>
            <a:custGeom>
              <a:avLst/>
              <a:gdLst/>
              <a:ahLst/>
              <a:cxnLst/>
              <a:rect l="l" t="t" r="r" b="b"/>
              <a:pathLst>
                <a:path w="3032125">
                  <a:moveTo>
                    <a:pt x="0" y="0"/>
                  </a:moveTo>
                  <a:lnTo>
                    <a:pt x="303162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93241" y="1929014"/>
            <a:ext cx="302196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90"/>
              </a:spcBef>
            </a:pPr>
            <a:r>
              <a:rPr sz="1100" spc="80" dirty="0" err="1">
                <a:latin typeface="Times New Roman"/>
                <a:cs typeface="Times New Roman"/>
              </a:rPr>
              <a:t>streamlit_de</a:t>
            </a:r>
            <a:r>
              <a:rPr lang="en-GB" sz="1100" spc="80" dirty="0">
                <a:latin typeface="Times New Roman"/>
                <a:cs typeface="Times New Roman"/>
              </a:rPr>
              <a:t>	</a:t>
            </a:r>
            <a:r>
              <a:rPr sz="1100" spc="80" dirty="0">
                <a:latin typeface="Times New Roman"/>
                <a:cs typeface="Times New Roman"/>
              </a:rPr>
              <a:t>mo_placeholder.png</a:t>
            </a:r>
            <a:endParaRPr sz="1100" dirty="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537426"/>
            <a:ext cx="4608195" cy="2919095"/>
            <a:chOff x="0" y="537426"/>
            <a:chExt cx="4608195" cy="2919095"/>
          </a:xfrm>
        </p:grpSpPr>
        <p:sp>
          <p:nvSpPr>
            <p:cNvPr id="9" name="object 9"/>
            <p:cNvSpPr/>
            <p:nvPr/>
          </p:nvSpPr>
          <p:spPr>
            <a:xfrm>
              <a:off x="3814749" y="537426"/>
              <a:ext cx="5080" cy="2809240"/>
            </a:xfrm>
            <a:custGeom>
              <a:avLst/>
              <a:gdLst/>
              <a:ahLst/>
              <a:cxnLst/>
              <a:rect l="l" t="t" r="r" b="b"/>
              <a:pathLst>
                <a:path w="5079" h="2809240">
                  <a:moveTo>
                    <a:pt x="0" y="2808922"/>
                  </a:moveTo>
                  <a:lnTo>
                    <a:pt x="5054" y="2808922"/>
                  </a:lnTo>
                  <a:lnTo>
                    <a:pt x="5054" y="0"/>
                  </a:lnTo>
                  <a:lnTo>
                    <a:pt x="0" y="0"/>
                  </a:lnTo>
                  <a:lnTo>
                    <a:pt x="0" y="28089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5" name="object 15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903" y="539953"/>
            <a:ext cx="4644003" cy="2806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199895"/>
            <a:ext cx="20427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Limitations</a:t>
            </a:r>
            <a:r>
              <a:rPr spc="-25" dirty="0"/>
              <a:t> </a:t>
            </a:r>
            <a:r>
              <a:rPr spc="120" dirty="0"/>
              <a:t>&amp;</a:t>
            </a:r>
            <a:r>
              <a:rPr spc="-25" dirty="0"/>
              <a:t> </a:t>
            </a:r>
            <a:r>
              <a:rPr spc="-20" dirty="0"/>
              <a:t>Future</a:t>
            </a:r>
            <a:r>
              <a:rPr spc="-25" dirty="0"/>
              <a:t> </a:t>
            </a:r>
            <a:r>
              <a:rPr spc="-20" dirty="0"/>
              <a:t>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75372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85404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95437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15502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325535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535567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844" y="938108"/>
            <a:ext cx="1955800" cy="17062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latin typeface="Arial"/>
                <a:cs typeface="Arial"/>
              </a:rPr>
              <a:t>Limitations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25299"/>
              </a:lnSpc>
            </a:pPr>
            <a:r>
              <a:rPr sz="1100" spc="-10" dirty="0">
                <a:latin typeface="Tahoma"/>
                <a:cs typeface="Tahoma"/>
              </a:rPr>
              <a:t>Limited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2D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vision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models </a:t>
            </a:r>
            <a:r>
              <a:rPr sz="1100" dirty="0">
                <a:latin typeface="Tahoma"/>
                <a:cs typeface="Tahoma"/>
              </a:rPr>
              <a:t>No </a:t>
            </a:r>
            <a:r>
              <a:rPr sz="1100" spc="-45" dirty="0">
                <a:latin typeface="Tahoma"/>
                <a:cs typeface="Tahoma"/>
              </a:rPr>
              <a:t>physical-</a:t>
            </a:r>
            <a:r>
              <a:rPr sz="1100" spc="-40" dirty="0">
                <a:latin typeface="Tahoma"/>
                <a:cs typeface="Tahoma"/>
              </a:rPr>
              <a:t>world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attacks </a:t>
            </a:r>
            <a:r>
              <a:rPr sz="1100" spc="-45" dirty="0">
                <a:latin typeface="Tahoma"/>
                <a:cs typeface="Tahoma"/>
              </a:rPr>
              <a:t>Depends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ImageNet</a:t>
            </a:r>
            <a:r>
              <a:rPr sz="1100" spc="-40" dirty="0">
                <a:latin typeface="Tahoma"/>
                <a:cs typeface="Tahoma"/>
              </a:rPr>
              <a:t> labels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b="1" spc="-10" dirty="0">
                <a:latin typeface="Arial"/>
                <a:cs typeface="Arial"/>
              </a:rPr>
              <a:t>Future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Scope</a:t>
            </a:r>
            <a:endParaRPr sz="1100">
              <a:latin typeface="Arial"/>
              <a:cs typeface="Arial"/>
            </a:endParaRPr>
          </a:p>
          <a:p>
            <a:pPr marL="289560" marR="50800" algn="just">
              <a:lnSpc>
                <a:spcPct val="125299"/>
              </a:lnSpc>
            </a:pPr>
            <a:r>
              <a:rPr sz="1100" spc="-10" dirty="0">
                <a:latin typeface="Tahoma"/>
                <a:cs typeface="Tahoma"/>
              </a:rPr>
              <a:t>Physical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adversarial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patches </a:t>
            </a:r>
            <a:r>
              <a:rPr sz="1100" spc="-25" dirty="0">
                <a:latin typeface="Tahoma"/>
                <a:cs typeface="Tahoma"/>
              </a:rPr>
              <a:t>Face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recognition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robustness </a:t>
            </a:r>
            <a:r>
              <a:rPr sz="1100" spc="-10" dirty="0">
                <a:latin typeface="Tahoma"/>
                <a:cs typeface="Tahoma"/>
              </a:rPr>
              <a:t>Vision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transformers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6" name="object 16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8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8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8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Ethical</a:t>
            </a:r>
            <a:r>
              <a:rPr spc="-55" dirty="0"/>
              <a:t> </a:t>
            </a:r>
            <a:r>
              <a:rPr spc="-40" dirty="0"/>
              <a:t>Considerations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531810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41843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51875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844" y="1194547"/>
            <a:ext cx="3230880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marR="1167765" indent="-277495">
              <a:lnSpc>
                <a:spcPct val="125299"/>
              </a:lnSpc>
              <a:spcBef>
                <a:spcPts val="100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35" dirty="0">
                <a:latin typeface="Tahoma"/>
                <a:cs typeface="Tahoma"/>
              </a:rPr>
              <a:t> project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intended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strictly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for: </a:t>
            </a:r>
            <a:r>
              <a:rPr sz="1100" spc="-45" dirty="0">
                <a:latin typeface="Tahoma"/>
                <a:cs typeface="Tahoma"/>
              </a:rPr>
              <a:t>Defensive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AI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research</a:t>
            </a:r>
            <a:endParaRPr sz="1100">
              <a:latin typeface="Tahoma"/>
              <a:cs typeface="Tahoma"/>
            </a:endParaRPr>
          </a:p>
          <a:p>
            <a:pPr marL="289560" marR="1658620">
              <a:lnSpc>
                <a:spcPct val="125299"/>
              </a:lnSpc>
            </a:pPr>
            <a:r>
              <a:rPr sz="1100" spc="-25" dirty="0">
                <a:latin typeface="Tahoma"/>
                <a:cs typeface="Tahoma"/>
              </a:rPr>
              <a:t>Security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auditing </a:t>
            </a:r>
            <a:r>
              <a:rPr sz="1100" spc="-40" dirty="0">
                <a:latin typeface="Tahoma"/>
                <a:cs typeface="Tahoma"/>
              </a:rPr>
              <a:t>Responsible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disclosure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35" dirty="0">
                <a:latin typeface="Tahoma"/>
                <a:cs typeface="Tahoma"/>
              </a:rPr>
              <a:t>Unauthorized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exploitation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AI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systems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discouraged.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3" name="object 13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5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5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5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0017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8F4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44" y="1392991"/>
            <a:ext cx="4356100" cy="63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The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Adversarial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Robustness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Analyzer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demonstrates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that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even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high-</a:t>
            </a:r>
            <a:r>
              <a:rPr sz="1000" spc="-35" dirty="0">
                <a:latin typeface="Tahoma"/>
                <a:cs typeface="Tahoma"/>
              </a:rPr>
              <a:t>accuracy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vision </a:t>
            </a:r>
            <a:r>
              <a:rPr sz="1000" spc="-35" dirty="0">
                <a:latin typeface="Tahoma"/>
                <a:cs typeface="Tahoma"/>
              </a:rPr>
              <a:t>models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are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vulnerable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adversarial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environmental</a:t>
            </a:r>
            <a:r>
              <a:rPr sz="1000" spc="-10" dirty="0">
                <a:latin typeface="Tahoma"/>
                <a:cs typeface="Tahoma"/>
              </a:rPr>
              <a:t> disturbances.</a:t>
            </a:r>
            <a:endParaRPr sz="1000">
              <a:latin typeface="Tahoma"/>
              <a:cs typeface="Tahoma"/>
            </a:endParaRPr>
          </a:p>
          <a:p>
            <a:pPr marL="12700" marR="3048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latin typeface="Tahoma"/>
                <a:cs typeface="Tahoma"/>
              </a:rPr>
              <a:t>The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system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provides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practical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framework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 </a:t>
            </a:r>
            <a:r>
              <a:rPr sz="1000" spc="-35" dirty="0">
                <a:latin typeface="Tahoma"/>
                <a:cs typeface="Tahoma"/>
              </a:rPr>
              <a:t>evaluating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robustness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real-</a:t>
            </a:r>
            <a:r>
              <a:rPr sz="1000" spc="-10" dirty="0">
                <a:latin typeface="Tahoma"/>
                <a:cs typeface="Tahoma"/>
              </a:rPr>
              <a:t>world </a:t>
            </a:r>
            <a:r>
              <a:rPr sz="1000" dirty="0">
                <a:latin typeface="Tahoma"/>
                <a:cs typeface="Tahoma"/>
              </a:rPr>
              <a:t>AI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deployments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guiding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secure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AI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development.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1" name="object 11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20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1609674" y="1168259"/>
            <a:ext cx="138874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45" dirty="0">
                <a:latin typeface="Trebuchet MS"/>
                <a:cs typeface="Trebuchet MS"/>
              </a:rPr>
              <a:t>Thank</a:t>
            </a:r>
            <a:r>
              <a:rPr sz="2450" spc="-140" dirty="0">
                <a:latin typeface="Trebuchet MS"/>
                <a:cs typeface="Trebuchet MS"/>
              </a:rPr>
              <a:t> </a:t>
            </a:r>
            <a:r>
              <a:rPr sz="2450" spc="-95" dirty="0">
                <a:latin typeface="Trebuchet MS"/>
                <a:cs typeface="Trebuchet MS"/>
              </a:rPr>
              <a:t>You</a:t>
            </a:r>
            <a:endParaRPr sz="24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50696" y="3364484"/>
            <a:ext cx="47498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dirty="0">
                <a:solidFill>
                  <a:srgbClr val="F2F2F2"/>
                </a:solidFill>
                <a:latin typeface="Arial"/>
                <a:cs typeface="Arial"/>
              </a:rPr>
              <a:t>f</a:t>
            </a:r>
            <a:r>
              <a:rPr sz="600" spc="75" dirty="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2F2F2"/>
                </a:solidFill>
                <a:latin typeface="Arial"/>
                <a:cs typeface="Arial"/>
              </a:rPr>
              <a:t>Engineering)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-12700" y="3351784"/>
            <a:ext cx="157670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endParaRPr spc="-50" dirty="0"/>
          </a:p>
        </p:txBody>
      </p:sp>
      <p:sp>
        <p:nvSpPr>
          <p:cNvPr id="10" name="object 10"/>
          <p:cNvSpPr txBox="1"/>
          <p:nvPr/>
        </p:nvSpPr>
        <p:spPr>
          <a:xfrm>
            <a:off x="1748167" y="3351784"/>
            <a:ext cx="111188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Adversarial</a:t>
            </a:r>
            <a:r>
              <a:rPr sz="600" spc="2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Robustness</a:t>
            </a:r>
            <a:r>
              <a:rPr sz="600" spc="25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"/>
                <a:cs typeface="Arial"/>
                <a:hlinkClick r:id="rId2" action="ppaction://hlinksldjump"/>
              </a:rPr>
              <a:t>Analyzer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7,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21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E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842</Words>
  <Application>Microsoft Office PowerPoint</Application>
  <PresentationFormat>Custom</PresentationFormat>
  <Paragraphs>170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Tahoma</vt:lpstr>
      <vt:lpstr>Times New Roman</vt:lpstr>
      <vt:lpstr>Trebuchet MS</vt:lpstr>
      <vt:lpstr>Office Theme</vt:lpstr>
      <vt:lpstr>PowerPoint Presentation</vt:lpstr>
      <vt:lpstr>Introduction</vt:lpstr>
      <vt:lpstr>Problem Statement</vt:lpstr>
      <vt:lpstr>Objective</vt:lpstr>
      <vt:lpstr>System Overview</vt:lpstr>
      <vt:lpstr>PowerPoint Presentation</vt:lpstr>
      <vt:lpstr>Input &amp; Model Layer</vt:lpstr>
      <vt:lpstr>Adversarial Attack Layer</vt:lpstr>
      <vt:lpstr>Defense &amp; Metrics</vt:lpstr>
      <vt:lpstr>PowerPoint Presentation</vt:lpstr>
      <vt:lpstr>Visualization &amp; Analysis</vt:lpstr>
      <vt:lpstr>Results &amp; Observations</vt:lpstr>
      <vt:lpstr>Real-World Applications</vt:lpstr>
      <vt:lpstr>Key Innovations</vt:lpstr>
      <vt:lpstr>Why Our Solution Stands Out</vt:lpstr>
      <vt:lpstr>Team Contributions</vt:lpstr>
      <vt:lpstr>PowerPoint Presentation</vt:lpstr>
      <vt:lpstr>Limitations &amp; Future Work</vt:lpstr>
      <vt:lpstr>Ethical Considerations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Robustness Analyzer - CyberFest Hackathon Project</dc:title>
  <dc:creator>Team Zade</dc:creator>
  <cp:lastModifiedBy>nagireddi vishal</cp:lastModifiedBy>
  <cp:revision>3</cp:revision>
  <dcterms:created xsi:type="dcterms:W3CDTF">2026-02-07T04:36:13Z</dcterms:created>
  <dcterms:modified xsi:type="dcterms:W3CDTF">2026-03-20T13:13:13Z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2026-02-07T00:00:00Z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